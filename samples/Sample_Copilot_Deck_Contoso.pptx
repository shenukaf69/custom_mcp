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DDE3EC"/>
              </a:solidFill>
            </c:spPr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47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Year one</c:v>
                </c:pt>
              </c:strCache>
            </c:strRef>
          </c:tx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dPt>
            <c:idx val="2"/>
            <c:spPr>
              <a:solidFill>
                <a:srgbClr val="C9CED8"/>
              </a:solidFill>
            </c:spPr>
          </c:dPt>
          <c:dPt>
            <c:idx val="3"/>
            <c:spPr>
              <a:solidFill>
                <a:srgbClr val="C9CED8"/>
              </a:solidFill>
            </c:spPr>
          </c:dPt>
          <c:cat>
            <c:strRef>
              <c:f>Sheet1!$A$2:$A$5</c:f>
              <c:strCache>
                <c:ptCount val="4"/>
                <c:pt idx="0">
                  <c:v>Total cost</c:v>
                </c:pt>
                <c:pt idx="1">
                  <c:v>Realised value</c:v>
                </c:pt>
                <c:pt idx="2">
                  <c:v>Assisted value</c:v>
                </c:pt>
                <c:pt idx="3">
                  <c:v>Full potential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134326.4</c:v>
                </c:pt>
                <c:pt idx="1">
                  <c:v>1328192.04</c:v>
                </c:pt>
                <c:pt idx="2">
                  <c:v>1328192.04</c:v>
                </c:pt>
                <c:pt idx="3">
                  <c:v>1897417.2000000002</c:v>
                </c:pt>
              </c:numCache>
            </c:numRef>
          </c:val>
        </c:ser>
        <c:dLbls>
          <c:numFmt formatCode="&quot;S$&quot;#,##0.0,,&quot;M&quot;" sourceLinked="0"/>
          <c:txPr>
            <a:bodyPr/>
            <a:lstStyle/>
            <a:p>
              <a:pPr>
                <a:defRPr sz="1200" b="1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8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Realised value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Start</c:v>
                </c:pt>
                <c:pt idx="1">
                  <c:v>M3</c:v>
                </c:pt>
                <c:pt idx="2">
                  <c:v>M6</c:v>
                </c:pt>
                <c:pt idx="3">
                  <c:v>M9</c:v>
                </c:pt>
                <c:pt idx="4">
                  <c:v>M12</c:v>
                </c:pt>
                <c:pt idx="5">
                  <c:v>M15</c:v>
                </c:pt>
                <c:pt idx="6">
                  <c:v>M18</c:v>
                </c:pt>
                <c:pt idx="7">
                  <c:v>M21</c:v>
                </c:pt>
                <c:pt idx="8">
                  <c:v>M24</c:v>
                </c:pt>
                <c:pt idx="9">
                  <c:v>M27</c:v>
                </c:pt>
                <c:pt idx="10">
                  <c:v>M30</c:v>
                </c:pt>
                <c:pt idx="11">
                  <c:v>M33</c:v>
                </c:pt>
                <c:pt idx="12">
                  <c:v>M36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</c:v>
                </c:pt>
                <c:pt idx="1">
                  <c:v>332048.01</c:v>
                </c:pt>
                <c:pt idx="2">
                  <c:v>664096.02</c:v>
                </c:pt>
                <c:pt idx="3">
                  <c:v>996144.03</c:v>
                </c:pt>
                <c:pt idx="4">
                  <c:v>1328192.04</c:v>
                </c:pt>
                <c:pt idx="5">
                  <c:v>1660240.05</c:v>
                </c:pt>
                <c:pt idx="6">
                  <c:v>1992288.06</c:v>
                </c:pt>
                <c:pt idx="7">
                  <c:v>2324336.07</c:v>
                </c:pt>
                <c:pt idx="8">
                  <c:v>2656384.08</c:v>
                </c:pt>
                <c:pt idx="9">
                  <c:v>2988432.09</c:v>
                </c:pt>
                <c:pt idx="10">
                  <c:v>3320480.1</c:v>
                </c:pt>
                <c:pt idx="11">
                  <c:v>3652528.11</c:v>
                </c:pt>
                <c:pt idx="12">
                  <c:v>3984576.12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31750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Start</c:v>
                </c:pt>
                <c:pt idx="1">
                  <c:v>M3</c:v>
                </c:pt>
                <c:pt idx="2">
                  <c:v>M6</c:v>
                </c:pt>
                <c:pt idx="3">
                  <c:v>M9</c:v>
                </c:pt>
                <c:pt idx="4">
                  <c:v>M12</c:v>
                </c:pt>
                <c:pt idx="5">
                  <c:v>M15</c:v>
                </c:pt>
                <c:pt idx="6">
                  <c:v>M18</c:v>
                </c:pt>
                <c:pt idx="7">
                  <c:v>M21</c:v>
                </c:pt>
                <c:pt idx="8">
                  <c:v>M24</c:v>
                </c:pt>
                <c:pt idx="9">
                  <c:v>M27</c:v>
                </c:pt>
                <c:pt idx="10">
                  <c:v>M30</c:v>
                </c:pt>
                <c:pt idx="11">
                  <c:v>M33</c:v>
                </c:pt>
                <c:pt idx="12">
                  <c:v>M36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50000.0</c:v>
                </c:pt>
                <c:pt idx="1">
                  <c:v>71081.6</c:v>
                </c:pt>
                <c:pt idx="2">
                  <c:v>92163.2</c:v>
                </c:pt>
                <c:pt idx="3">
                  <c:v>113244.79999999999</c:v>
                </c:pt>
                <c:pt idx="4">
                  <c:v>134326.4</c:v>
                </c:pt>
                <c:pt idx="5">
                  <c:v>155408.0</c:v>
                </c:pt>
                <c:pt idx="6">
                  <c:v>176489.59999999998</c:v>
                </c:pt>
                <c:pt idx="7">
                  <c:v>197571.19999999998</c:v>
                </c:pt>
                <c:pt idx="8">
                  <c:v>218652.8</c:v>
                </c:pt>
                <c:pt idx="9">
                  <c:v>239734.4</c:v>
                </c:pt>
                <c:pt idx="10">
                  <c:v>260816.0</c:v>
                </c:pt>
                <c:pt idx="11">
                  <c:v>281897.6</c:v>
                </c:pt>
                <c:pt idx="12">
                  <c:v>302979.19999999995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8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&quot;S$&quot;#,##0.0,,&quot;M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 a year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EB6834"/>
              </a:solidFill>
            </c:spPr>
          </c:dPt>
          <c:dPt>
            <c:idx val="2"/>
            <c:spPr>
              <a:solidFill>
                <a:srgbClr val="1BAF7A"/>
              </a:solidFill>
            </c:spPr>
          </c:dPt>
          <c:cat>
            <c:strRef>
              <c:f>Sheet1!$A$2:$A$4</c:f>
              <c:strCache>
                <c:ptCount val="3"/>
                <c:pt idx="0">
                  <c:v>Meeting summaries</c:v>
                </c:pt>
                <c:pt idx="1">
                  <c:v>Search and summaries</c:v>
                </c:pt>
                <c:pt idx="2">
                  <c:v>Creation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3830</c:v>
                </c:pt>
                <c:pt idx="1">
                  <c:v>7955</c:v>
                </c:pt>
                <c:pt idx="2">
                  <c:v>2652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47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Active Copilot users per week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users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05 Jul</c:v>
                </c:pt>
                <c:pt idx="1">
                  <c:v>12 Jul</c:v>
                </c:pt>
                <c:pt idx="2">
                  <c:v>19 Jul</c:v>
                </c:pt>
                <c:pt idx="3">
                  <c:v>26 Jul</c:v>
                </c:pt>
                <c:pt idx="4">
                  <c:v>02 Aug</c:v>
                </c:pt>
                <c:pt idx="5">
                  <c:v>09 Aug</c:v>
                </c:pt>
                <c:pt idx="6">
                  <c:v>16 Aug</c:v>
                </c:pt>
                <c:pt idx="7">
                  <c:v>23 Aug</c:v>
                </c:pt>
                <c:pt idx="8">
                  <c:v>30 Aug</c:v>
                </c:pt>
                <c:pt idx="9">
                  <c:v>06 Sep</c:v>
                </c:pt>
                <c:pt idx="10">
                  <c:v>13 Sep</c:v>
                </c:pt>
                <c:pt idx="11">
                  <c:v>20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137.0</c:v>
                </c:pt>
                <c:pt idx="1">
                  <c:v>136.0</c:v>
                </c:pt>
                <c:pt idx="2">
                  <c:v>128.0</c:v>
                </c:pt>
                <c:pt idx="3">
                  <c:v>137.0</c:v>
                </c:pt>
                <c:pt idx="4">
                  <c:v>139.0</c:v>
                </c:pt>
                <c:pt idx="5">
                  <c:v>143.0</c:v>
                </c:pt>
                <c:pt idx="6">
                  <c:v>141.0</c:v>
                </c:pt>
                <c:pt idx="7">
                  <c:v>131.0</c:v>
                </c:pt>
                <c:pt idx="8">
                  <c:v>120.0</c:v>
                </c:pt>
                <c:pt idx="9">
                  <c:v>126.0</c:v>
                </c:pt>
                <c:pt idx="10">
                  <c:v>141.0</c:v>
                </c:pt>
                <c:pt idx="11">
                  <c:v>126.0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Copilot actions by app, last 12 weeks</a:t>
            </a:r>
          </a:p>
        </c:rich>
      </c:tx>
      <c:layout/>
      <c:overlay val="0"/>
    </c:title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Copilot actions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Copilot app</c:v>
                </c:pt>
                <c:pt idx="1">
                  <c:v>Copilot Chat</c:v>
                </c:pt>
                <c:pt idx="2">
                  <c:v>OneNote</c:v>
                </c:pt>
                <c:pt idx="3">
                  <c:v>Word</c:v>
                </c:pt>
                <c:pt idx="4">
                  <c:v>Outlook</c:v>
                </c:pt>
                <c:pt idx="5">
                  <c:v>Excel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6396.0</c:v>
                </c:pt>
                <c:pt idx="1">
                  <c:v>6402.0</c:v>
                </c:pt>
                <c:pt idx="2">
                  <c:v>6423.0</c:v>
                </c:pt>
                <c:pt idx="3">
                  <c:v>6585.0</c:v>
                </c:pt>
                <c:pt idx="4">
                  <c:v>6591.0</c:v>
                </c:pt>
                <c:pt idx="5">
                  <c:v>6635.0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Marketing</c:v>
                </c:pt>
                <c:pt idx="1">
                  <c:v>IT Operations</c:v>
                </c:pt>
                <c:pt idx="2">
                  <c:v>HR</c:v>
                </c:pt>
                <c:pt idx="3">
                  <c:v>Finance</c:v>
                </c:pt>
                <c:pt idx="4">
                  <c:v>Sales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0.6111111111111112</c:v>
                </c:pt>
                <c:pt idx="1">
                  <c:v>0.631578947368421</c:v>
                </c:pt>
                <c:pt idx="2">
                  <c:v>0.6388888888888888</c:v>
                </c:pt>
                <c:pt idx="3">
                  <c:v>0.7714285714285715</c:v>
                </c:pt>
                <c:pt idx="4">
                  <c:v>0.7894736842105263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ED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4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we cover where Contoso Retail stands on Copilot readiness, the recommended approach and the business case. Use the agenda to jump to any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agenda item is a link. In slideshow mode, click one to jump there; every slide has an Agenda button to come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Readiness score 50/100: Ready for a pilot. Gaps: Data governance (labels, DLP) in place; SharePoint oversharing / permissions reviewed. Scoring weights: licences 20, data governance 25, SharePoint permissions 25, sponsor 15, change plan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Recommended sequence: 1. Put baseline labelling and DLP in place; 2. Find and contain oversharing; 3. Re-score readiness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Recommended Tier 2 (Copilot Studio) because system integrations or multi-step processes need Copilot Studio. Use cases for Operations: SOP and process Q&amp;A agent; Incident and shift handover summariser; Supplier and inventory status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Assisted value S$1.33M a year from 14,437 assisted hours. Total year-one cost S$134K. Net benefit S$1.19M. Select the chart and choose Edit Data to change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Costs are covered in under a month. Assisted hours follow Microsoft's method: meeting hours summarised, plus 6 minutes per search/summary action and per creation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sample_copilot_export_SYNTHETIC.csv. Latest week: 126 active of 183 licensed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licensed users with any Copilot activity in the latest week, by organisation. Target the lowest groups with champions and role-based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flow: Design &gt; Connect &gt; Author &gt; Publish. Build the 'SOP and process Q&amp;A agent' scenario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agreeing the pilot group, owners for each gap and a date to re-score.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Estimates are directional. Validate activity assumptions with Copilot Dashboard data or a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0.xml"/><Relationship Id="rId11" Type="http://schemas.openxmlformats.org/officeDocument/2006/relationships/slide" Target="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Relationship Id="rId4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Relationship Id="rId4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7.xml"/><Relationship Id="rId5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8.xml"/><Relationship Id="rId5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viva/insights/org-team-insights/copilot-dashboard#impact" TargetMode="External"/><Relationship Id="rId3" Type="http://schemas.openxmlformats.org/officeDocument/2006/relationships/hyperlink" Target="https://www.microsoft.com/en-us/microsoft-365/blog/2024/10/17/microsoft-365-copilot-drove-up-to-353-roi-for-small-and-medium-businesses-new-study/" TargetMode="External"/><Relationship Id="rId4" Type="http://schemas.openxmlformats.org/officeDocument/2006/relationships/hyperlink" Target="https://learn.microsoft.com/viva/insights/org-team-insights/export-copilot-metrics" TargetMode="External"/><Relationship Id="rId5" Type="http://schemas.openxmlformats.org/officeDocument/2006/relationships/notesSlide" Target="../notesSlides/notesSlide12.xml"/><Relationship Id="rId6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05695" y="548640"/>
            <a:ext cx="1737360" cy="1325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58368"/>
            <a:ext cx="1447094" cy="1106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FB8EE"/>
                </a:solidFill>
                <a:latin typeface="Calibri"/>
              </a:rPr>
              <a:t>MICROSOFT 365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Readiness and business case for Contoso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9D6EA"/>
                </a:solidFill>
                <a:latin typeface="Calibri"/>
              </a:rPr>
              <a:t>Prepared by Shenuka INC · Shenuka Fernando · 26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Select a section to jump to it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548640" y="173736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>
            <a:hlinkClick action="ppaction://hlinksldjump" r:id="rId3"/>
          </p:cNvPr>
          <p:cNvSpPr txBox="1"/>
          <p:nvPr/>
        </p:nvSpPr>
        <p:spPr>
          <a:xfrm>
            <a:off x="1417320" y="173736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Readiness assessment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48640" y="274320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>
            <a:hlinkClick action="ppaction://hlinksldjump" r:id="rId4"/>
          </p:cNvPr>
          <p:cNvSpPr txBox="1"/>
          <p:nvPr/>
        </p:nvSpPr>
        <p:spPr>
          <a:xfrm>
            <a:off x="1417320" y="274320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Recommended path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548640" y="374904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>
            <a:hlinkClick action="ppaction://hlinksldjump" r:id="rId5"/>
          </p:cNvPr>
          <p:cNvSpPr txBox="1"/>
          <p:nvPr/>
        </p:nvSpPr>
        <p:spPr>
          <a:xfrm>
            <a:off x="1417320" y="374904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Approach and use cases</a:t>
            </a:r>
          </a:p>
        </p:txBody>
      </p:sp>
      <p:sp>
        <p:nvSpPr>
          <p:cNvPr id="13" name="Rounded Rectangle 12">
            <a:hlinkClick action="ppaction://hlinksldjump" r:id="rId6"/>
          </p:cNvPr>
          <p:cNvSpPr/>
          <p:nvPr/>
        </p:nvSpPr>
        <p:spPr>
          <a:xfrm>
            <a:off x="548640" y="475488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>
            <a:hlinkClick action="ppaction://hlinksldjump" r:id="rId6"/>
          </p:cNvPr>
          <p:cNvSpPr txBox="1"/>
          <p:nvPr/>
        </p:nvSpPr>
        <p:spPr>
          <a:xfrm>
            <a:off x="1417320" y="475488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Business case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548640" y="576072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94360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1417320" y="576072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Value over time</a:t>
            </a:r>
          </a:p>
        </p:txBody>
      </p:sp>
      <p:sp>
        <p:nvSpPr>
          <p:cNvPr id="19" name="Rounded Rectangle 18">
            <a:hlinkClick action="ppaction://hlinksldjump" r:id="rId8"/>
          </p:cNvPr>
          <p:cNvSpPr/>
          <p:nvPr/>
        </p:nvSpPr>
        <p:spPr>
          <a:xfrm>
            <a:off x="6278727" y="173736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07327" y="19202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>
            <a:hlinkClick action="ppaction://hlinksldjump" r:id="rId8"/>
          </p:cNvPr>
          <p:cNvSpPr txBox="1"/>
          <p:nvPr/>
        </p:nvSpPr>
        <p:spPr>
          <a:xfrm>
            <a:off x="7147407" y="173736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Usage and adoption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6278727" y="274320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07327" y="292608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>
            <a:hlinkClick action="ppaction://hlinksldjump" r:id="rId9"/>
          </p:cNvPr>
          <p:cNvSpPr txBox="1"/>
          <p:nvPr/>
        </p:nvSpPr>
        <p:spPr>
          <a:xfrm>
            <a:off x="7147407" y="274320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Adoption by organisation</a:t>
            </a:r>
          </a:p>
        </p:txBody>
      </p:sp>
      <p:sp>
        <p:nvSpPr>
          <p:cNvPr id="25" name="Rounded Rectangle 24">
            <a:hlinkClick action="ppaction://hlinksldjump" r:id="rId10"/>
          </p:cNvPr>
          <p:cNvSpPr/>
          <p:nvPr/>
        </p:nvSpPr>
        <p:spPr>
          <a:xfrm>
            <a:off x="6278727" y="374904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07327" y="39319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>
            <a:hlinkClick action="ppaction://hlinksldjump" r:id="rId10"/>
          </p:cNvPr>
          <p:cNvSpPr txBox="1"/>
          <p:nvPr/>
        </p:nvSpPr>
        <p:spPr>
          <a:xfrm>
            <a:off x="7147407" y="374904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Build-Along plan</a:t>
            </a:r>
          </a:p>
        </p:txBody>
      </p:sp>
      <p:sp>
        <p:nvSpPr>
          <p:cNvPr id="28" name="Rounded Rectangle 27">
            <a:hlinkClick action="ppaction://hlinksldjump" r:id="rId11"/>
          </p:cNvPr>
          <p:cNvSpPr/>
          <p:nvPr/>
        </p:nvSpPr>
        <p:spPr>
          <a:xfrm>
            <a:off x="6278727" y="4754880"/>
            <a:ext cx="5364327" cy="822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07327" y="4937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>
            <a:hlinkClick action="ppaction://hlinksldjump" r:id="rId11"/>
          </p:cNvPr>
          <p:cNvSpPr txBox="1"/>
          <p:nvPr/>
        </p:nvSpPr>
        <p:spPr>
          <a:xfrm>
            <a:off x="7147407" y="4754880"/>
            <a:ext cx="435848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Readiness: where you stand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Ready for a pilot · 3 of 5 criteria in place</a:t>
            </a:r>
          </a:p>
        </p:txBody>
      </p:sp>
      <p:sp>
        <p:nvSpPr>
          <p:cNvPr id="4" name="Rounded Rectangle 3">
            <a:hlinkClick action="ppaction://hlinksldjump" r:id="rId4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840480" cy="44805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1783080"/>
          <a:ext cx="3017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0120" y="278892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D2A52"/>
                </a:solidFill>
                <a:latin typeface="Calibri"/>
              </a:rPr>
              <a:t>50</a:t>
            </a:r>
          </a:p>
          <a:p>
            <a:pPr algn="ctr">
              <a:spcBef>
                <a:spcPts val="400"/>
              </a:spcBef>
            </a:pPr>
            <a:r>
              <a:rPr sz="1200" b="0" i="0">
                <a:solidFill>
                  <a:srgbClr val="5B6472"/>
                </a:solidFill>
                <a:latin typeface="Calibri"/>
              </a:rPr>
              <a:t>out of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9834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Ready for a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Weighted score: data governance and SharePoint permissions count most.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600200"/>
            <a:ext cx="6888175" cy="585216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92040" y="1709928"/>
            <a:ext cx="365760" cy="365760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600200"/>
            <a:ext cx="4876495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Copilot licences assigned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1600200"/>
            <a:ext cx="1234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E8A5F"/>
                </a:solidFill>
                <a:latin typeface="Calibri"/>
              </a:rPr>
              <a:t>In 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313432"/>
            <a:ext cx="6888175" cy="585216"/>
          </a:xfrm>
          <a:prstGeom prst="roundRect">
            <a:avLst>
              <a:gd name="adj" fmla="val 8000"/>
            </a:avLst>
          </a:prstGeom>
          <a:solidFill>
            <a:srgbClr val="FDF1EA"/>
          </a:solidFill>
          <a:ln w="12700">
            <a:solidFill>
              <a:srgbClr val="F2B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40" y="2423160"/>
            <a:ext cx="365760" cy="36576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313432"/>
            <a:ext cx="4876495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Data governance (labels, DLP) in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2313432"/>
            <a:ext cx="1234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C2410C"/>
                </a:solidFill>
                <a:latin typeface="Calibri"/>
              </a:rPr>
              <a:t>Gap · 25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026664"/>
            <a:ext cx="6888175" cy="585216"/>
          </a:xfrm>
          <a:prstGeom prst="roundRect">
            <a:avLst>
              <a:gd name="adj" fmla="val 8000"/>
            </a:avLst>
          </a:prstGeom>
          <a:solidFill>
            <a:srgbClr val="FDF1EA"/>
          </a:solidFill>
          <a:ln w="12700">
            <a:solidFill>
              <a:srgbClr val="F2B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2040" y="3136392"/>
            <a:ext cx="365760" cy="36576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026664"/>
            <a:ext cx="4876495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SharePoint oversharing / permissions reviewed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3026664"/>
            <a:ext cx="1234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C2410C"/>
                </a:solidFill>
                <a:latin typeface="Calibri"/>
              </a:rPr>
              <a:t>Gap · 25 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739896"/>
            <a:ext cx="6888175" cy="585216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92040" y="3849624"/>
            <a:ext cx="365760" cy="365760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739896"/>
            <a:ext cx="4876495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Executive sponsor identified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3739896"/>
            <a:ext cx="1234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E8A5F"/>
                </a:solidFill>
                <a:latin typeface="Calibri"/>
              </a:rPr>
              <a:t>In place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453128"/>
            <a:ext cx="6888175" cy="585216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2040" y="4562856"/>
            <a:ext cx="365760" cy="365760"/>
          </a:xfrm>
          <a:prstGeom prst="ellipse">
            <a:avLst/>
          </a:prstGeom>
          <a:solidFill>
            <a:srgbClr val="0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453128"/>
            <a:ext cx="4876495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Change management / adoption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4453128"/>
            <a:ext cx="12344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0E8A5F"/>
                </a:solidFill>
                <a:latin typeface="Calibri"/>
              </a:rPr>
              <a:t>In place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5257800"/>
            <a:ext cx="6888175" cy="822960"/>
          </a:xfrm>
          <a:prstGeom prst="roundRect">
            <a:avLst>
              <a:gd name="adj" fmla="val 8000"/>
            </a:avLst>
          </a:prstGeom>
          <a:solidFill>
            <a:srgbClr val="0D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257800"/>
            <a:ext cx="6339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Why this matters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D6E2F3"/>
                </a:solidFill>
                <a:latin typeface="Calibri"/>
              </a:rPr>
              <a:t>Copilot shows people anything they can already access. Unreviewed permissions without labels or DLP are the most common cause of oversharing in the first weeks of a rollout.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Recommended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Start where it's safe, close the gaps, then scale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64327" cy="1325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8156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GO NOW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0D2A52"/>
                </a:solidFill>
                <a:latin typeface="Calibri"/>
              </a:rPr>
              <a:t>Scoped pilot, 20-50 users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Teams with well-understood content, so value is proven while the gaps close.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00200"/>
            <a:ext cx="5364327" cy="132588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1737360"/>
            <a:ext cx="48156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2410C"/>
                </a:solidFill>
                <a:latin typeface="Calibri"/>
              </a:rPr>
              <a:t>HOLD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0D2A52"/>
                </a:solidFill>
                <a:latin typeface="Calibri"/>
              </a:rPr>
              <a:t>Tenant-wide rollout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Hold until the gaps are closed and readiness is re-scored.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Quick wins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0D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76472"/>
            <a:ext cx="26008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Put baseline labelling and DLP in place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5B6472"/>
                </a:solidFill>
                <a:latin typeface="Calibri"/>
              </a:rPr>
              <a:t>Publish a small set of Microsoft Purview sensitivity labels and a DLP policy for Copilot.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361188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1098" y="3794760"/>
            <a:ext cx="411480" cy="411480"/>
          </a:xfrm>
          <a:prstGeom prst="ellipse">
            <a:avLst/>
          </a:prstGeom>
          <a:solidFill>
            <a:srgbClr val="0D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9738" y="3776472"/>
            <a:ext cx="26008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Find and contain oversharing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5B6472"/>
                </a:solidFill>
                <a:latin typeface="Calibri"/>
              </a:rPr>
              <a:t>Use SharePoint Advanced Management data access governance reports; restrict sensitive sites while the clean-up runs.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361188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10676" y="3794760"/>
            <a:ext cx="411480" cy="411480"/>
          </a:xfrm>
          <a:prstGeom prst="ellipse">
            <a:avLst/>
          </a:prstGeom>
          <a:solidFill>
            <a:srgbClr val="0D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9316" y="3776472"/>
            <a:ext cx="260085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Re-score readiness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5B6472"/>
                </a:solidFill>
                <a:latin typeface="Calibri"/>
              </a:rPr>
              <a:t>Re-run the assessment once the gaps are closed, then plan the wider rollout.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Recommended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Build tier and first agent ideas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937760" cy="4480560"/>
          </a:xfrm>
          <a:prstGeom prst="roundRect">
            <a:avLst>
              <a:gd name="adj" fmla="val 8000"/>
            </a:avLst>
          </a:prstGeom>
          <a:solidFill>
            <a:srgbClr val="0D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2062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FB8EE"/>
                </a:solidFill>
                <a:latin typeface="Calibri"/>
              </a:rPr>
              <a:t>TIER 2</a:t>
            </a:r>
          </a:p>
          <a:p>
            <a:pPr algn="l">
              <a:spcBef>
                <a:spcPts val="40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Copilot Studio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C9D6EA"/>
                </a:solidFill>
                <a:latin typeface="Calibri"/>
              </a:rPr>
              <a:t>Low-code · 90 min Build-Along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8FB8EE"/>
                </a:solidFill>
                <a:latin typeface="Calibri"/>
              </a:rPr>
              <a:t>Why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System integrations or multi-step processes need Copilot Studio.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8FB8EE"/>
                </a:solidFill>
                <a:latin typeface="Calibri"/>
              </a:rPr>
              <a:t>Who builds it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Citizen developers, power users, ops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600200"/>
            <a:ext cx="57908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D2A52"/>
                </a:solidFill>
                <a:latin typeface="Calibri"/>
              </a:rPr>
              <a:t>Agent ideas for Operations in Retail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148840"/>
            <a:ext cx="5790895" cy="74980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0" y="2295144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78505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SOP and process Q&amp;A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063240"/>
            <a:ext cx="5790895" cy="74980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0" y="3209544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478505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Incident and shift handover summariser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977640"/>
            <a:ext cx="5790895" cy="749808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0" y="4123944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77640"/>
            <a:ext cx="478505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B0B0B"/>
                </a:solidFill>
                <a:latin typeface="Calibri"/>
              </a:rPr>
              <a:t>Supplier and inventory status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983480"/>
            <a:ext cx="5790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A78D6"/>
                </a:solidFill>
                <a:latin typeface="Calibri"/>
              </a:rPr>
              <a:t>Industry tip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0B0B0B"/>
                </a:solidFill>
                <a:latin typeface="Calibri"/>
              </a:rPr>
              <a:t>Frontline and store-ops scenarios land well; think mobile and Teams.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The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Year one, using Microsoft's Copilot assisted hours method</a:t>
            </a:r>
          </a:p>
        </p:txBody>
      </p:sp>
      <p:sp>
        <p:nvSpPr>
          <p:cNvPr id="4" name="Rounded Rectangle 3">
            <a:hlinkClick action="ppaction://hlinksldjump" r:id="rId4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567863" cy="12801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11066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8A5F"/>
                </a:solidFill>
                <a:latin typeface="Calibri"/>
              </a:rPr>
              <a:t>S$1.19M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Year-one net benefit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1600200"/>
            <a:ext cx="2567863" cy="12801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9423" y="1737360"/>
            <a:ext cx="211066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2A52"/>
                </a:solidFill>
                <a:latin typeface="Calibri"/>
              </a:rPr>
              <a:t>889%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Year-one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2567863" cy="12801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37360"/>
            <a:ext cx="211066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2A52"/>
                </a:solidFill>
                <a:latin typeface="Calibri"/>
              </a:rPr>
              <a:t>&lt; 1 month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Payback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5191" y="1600200"/>
            <a:ext cx="2567863" cy="12801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3791" y="1737360"/>
            <a:ext cx="211066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2A52"/>
                </a:solidFill>
                <a:latin typeface="Calibri"/>
              </a:rPr>
              <a:t>14,437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Assisted hours a year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48640" y="3108960"/>
          <a:ext cx="69494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772400" y="3108960"/>
            <a:ext cx="3870655" cy="31089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246120"/>
            <a:ext cx="3413455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2A52"/>
                </a:solidFill>
                <a:latin typeface="Calibri"/>
              </a:rPr>
              <a:t>Key assumptions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0B0B0B"/>
                </a:solidFill>
                <a:latin typeface="Calibri"/>
              </a:rPr>
              <a:t>183 licensed users, 70% active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0B0B0B"/>
                </a:solidFill>
                <a:latin typeface="Calibri"/>
              </a:rPr>
              <a:t>2.5 assisted hours per active user per week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0B0B0B"/>
                </a:solidFill>
                <a:latin typeface="Calibri"/>
              </a:rPr>
              <a:t>S$92.00 per hour · S$38.40 licence per month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0B0B0B"/>
                </a:solidFill>
                <a:latin typeface="Calibri"/>
              </a:rPr>
              <a:t>One-off rollout costs S$50K</a:t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2A78D6"/>
                </a:solidFill>
                <a:latin typeface="Calibri"/>
              </a:rPr>
              <a:t>3-year ROI 1,215% · Forrester SMB projection 132-353%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Value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Cumulative value against cost, and where the time comes from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60020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600200"/>
            <a:ext cx="3870655" cy="45720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37360"/>
            <a:ext cx="3413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2A52"/>
                </a:solidFill>
                <a:latin typeface="Calibri"/>
              </a:rPr>
              <a:t>Assisted hours by capability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55280" y="2148840"/>
          <a:ext cx="35048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4846320"/>
            <a:ext cx="33220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A78D6"/>
                </a:solidFill>
                <a:latin typeface="Calibri"/>
              </a:rPr>
              <a:t>■  </a:t>
            </a:r>
            <a:r>
              <a:rPr sz="1200">
                <a:solidFill>
                  <a:srgbClr val="0B0B0B"/>
                </a:solidFill>
                <a:latin typeface="Calibri"/>
              </a:rPr>
              <a:t>Meeting summaries: 3,830 h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EB6834"/>
                </a:solidFill>
                <a:latin typeface="Calibri"/>
              </a:rPr>
              <a:t>■  </a:t>
            </a:r>
            <a:r>
              <a:rPr sz="1200">
                <a:solidFill>
                  <a:srgbClr val="0B0B0B"/>
                </a:solidFill>
                <a:latin typeface="Calibri"/>
              </a:rPr>
              <a:t>Search and summaries: 7,955 h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BAF7A"/>
                </a:solidFill>
                <a:latin typeface="Calibri"/>
              </a:rPr>
              <a:t>■  </a:t>
            </a:r>
            <a:r>
              <a:rPr sz="1200">
                <a:solidFill>
                  <a:srgbClr val="0B0B0B"/>
                </a:solidFill>
                <a:latin typeface="Calibri"/>
              </a:rPr>
              <a:t>Creation: 2,652 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Copilot usage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From the Copilot Dashboard export · last 12 weeks</a:t>
            </a:r>
          </a:p>
        </p:txBody>
      </p:sp>
      <p:sp>
        <p:nvSpPr>
          <p:cNvPr id="4" name="Rounded Rectangle 3">
            <a:hlinkClick action="ppaction://hlinksldjump" r:id="rId5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126 / 183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Active of licensed users (latest week)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69%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Adoption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3931920" cy="128016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3,886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5B6472"/>
                </a:solidFill>
                <a:latin typeface="Calibri"/>
              </a:rPr>
              <a:t>Assisted hours, 12 weeks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846320" y="1600200"/>
          <a:ext cx="6796735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846320" y="4069080"/>
          <a:ext cx="6796735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Adoption by 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Week of 20 September 2026</a:t>
            </a:r>
          </a:p>
        </p:txBody>
      </p:sp>
      <p:sp>
        <p:nvSpPr>
          <p:cNvPr id="4" name="Rounded Rectangle 3">
            <a:hlinkClick action="ppaction://hlinksldjump" r:id="rId4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6766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188720"/>
                <a:gridCol w="1188720"/>
                <a:gridCol w="128016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Organisation</a:t>
                      </a:r>
                    </a:p>
                  </a:txBody>
                  <a:tcPr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Licensed</a:t>
                      </a:r>
                    </a:p>
                  </a:txBody>
                  <a:tcPr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>
                    <a:solidFill>
                      <a:srgbClr val="0D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Adoption</a:t>
                      </a:r>
                    </a:p>
                  </a:txBody>
                  <a:tcPr>
                    <a:solidFill>
                      <a:srgbClr val="0D2A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IT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680960" y="1600200"/>
          <a:ext cx="3962095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Hands-on: Agent Build-Along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Copilot Studio · Low-code · 90 min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0D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8FB8EE"/>
                </a:solidFill>
                <a:latin typeface="Calibri"/>
              </a:rPr>
              <a:t>SCENARIO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SOP and process Q&amp;A agent for Operations in Retail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2788920"/>
            <a:ext cx="2567863" cy="1005840"/>
          </a:xfrm>
          <a:prstGeom prst="homePlat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1. Design</a:t>
            </a:r>
          </a:p>
        </p:txBody>
      </p:sp>
      <p:sp>
        <p:nvSpPr>
          <p:cNvPr id="10" name="Chevron 9"/>
          <p:cNvSpPr/>
          <p:nvPr/>
        </p:nvSpPr>
        <p:spPr>
          <a:xfrm>
            <a:off x="3390823" y="2788920"/>
            <a:ext cx="2567863" cy="1005840"/>
          </a:xfrm>
          <a:prstGeom prst="chevron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2. Connect</a:t>
            </a:r>
          </a:p>
        </p:txBody>
      </p:sp>
      <p:sp>
        <p:nvSpPr>
          <p:cNvPr id="11" name="Chevron 10"/>
          <p:cNvSpPr/>
          <p:nvPr/>
        </p:nvSpPr>
        <p:spPr>
          <a:xfrm>
            <a:off x="6233007" y="2788920"/>
            <a:ext cx="2567863" cy="1005840"/>
          </a:xfrm>
          <a:prstGeom prst="chevron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3. Author</a:t>
            </a:r>
          </a:p>
        </p:txBody>
      </p:sp>
      <p:sp>
        <p:nvSpPr>
          <p:cNvPr id="12" name="Chevron 11"/>
          <p:cNvSpPr/>
          <p:nvPr/>
        </p:nvSpPr>
        <p:spPr>
          <a:xfrm>
            <a:off x="9075191" y="2788920"/>
            <a:ext cx="2567863" cy="1005840"/>
          </a:xfrm>
          <a:prstGeom prst="chevron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4. Publish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69080"/>
            <a:ext cx="11094415" cy="2057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2A52"/>
                </a:solidFill>
                <a:latin typeface="Calibri"/>
              </a:rPr>
              <a:t>Prerequisites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B0B0B"/>
                </a:solidFill>
                <a:latin typeface="Calibri"/>
              </a:rPr>
              <a:t>•  Copilot Studio access or trial environment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B0B0B"/>
                </a:solidFill>
                <a:latin typeface="Calibri"/>
              </a:rPr>
              <a:t>•  Familiarity with Power Platform helpful (not required)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B0B0B"/>
                </a:solidFill>
                <a:latin typeface="Calibri"/>
              </a:rPr>
              <a:t>•  A multi-step workflow or process in mind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48764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2A52"/>
                </a:solidFill>
                <a:latin typeface="Calibri"/>
              </a:rPr>
              <a:t>Facilitator tip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B0B0B"/>
                </a:solidFill>
                <a:latin typeface="Calibri"/>
              </a:rPr>
              <a:t>Frontline and store-ops scenarios land well; think mobile and Teams.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0D2A52"/>
                </a:solidFill>
                <a:latin typeface="Calibri"/>
              </a:rPr>
              <a:t>Audience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B0B0B"/>
                </a:solidFill>
                <a:latin typeface="Calibri"/>
              </a:rPr>
              <a:t>Citizen developers, power users, ops teams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78308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Agree the pilot group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C9D6EA"/>
                </a:solidFill>
                <a:latin typeface="Calibri"/>
              </a:rPr>
              <a:t>Pick 20-50 users in teams with well-understood content.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01752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Close the priority gaps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C9D6EA"/>
                </a:solidFill>
                <a:latin typeface="Calibri"/>
              </a:rPr>
              <a:t>Start the governance quick wins in parallel with the pilot.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25196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Measure and re-score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C9D6EA"/>
                </a:solidFill>
                <a:latin typeface="Calibri"/>
              </a:rPr>
              <a:t>Track Copilot Dashboard usage and re-run readiness and ROI in 6-8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5695" y="4754880"/>
            <a:ext cx="1737360" cy="1325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4864608"/>
            <a:ext cx="1447094" cy="1106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6EA"/>
                </a:solidFill>
                <a:latin typeface="Calibri"/>
              </a:rPr>
              <a:t>Shenuka INC · Shenuka Fernando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D2A52"/>
                </a:solidFill>
                <a:latin typeface="Calibri"/>
              </a:rPr>
              <a:t>Method and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472"/>
                </a:solidFill>
                <a:latin typeface="Calibri"/>
              </a:rPr>
              <a:t>How the numbers in this deck were calculated</a:t>
            </a:r>
          </a:p>
        </p:txBody>
      </p:sp>
      <p:sp>
        <p:nvSpPr>
          <p:cNvPr id="4" name="Rounded Rectangle 3">
            <a:hlinkClick action="ppaction://hlinksldjump" r:id="rId6"/>
          </p:cNvPr>
          <p:cNvSpPr/>
          <p:nvPr/>
        </p:nvSpPr>
        <p:spPr>
          <a:xfrm>
            <a:off x="10500055" y="4572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>
                <a:solidFill>
                  <a:srgbClr val="0D2A52"/>
                </a:solidFill>
                <a:latin typeface="Calibri"/>
              </a:rPr>
              <a:t>↩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2"/>
                </a:solidFill>
                <a:latin typeface="Calibri"/>
              </a:rPr>
              <a:t>Contoso Retail · Microsoft 365 Copilot readiness and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2A52"/>
                </a:solidFill>
                <a:latin typeface="Calibri"/>
              </a:rPr>
              <a:t>Copilot assisted hours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0B0B0B"/>
                </a:solidFill>
                <a:latin typeface="Calibri"/>
              </a:rPr>
              <a:t>Meeting hours summarised or recapped + 6 minutes per search/summary action + 6 minutes per creation action (Microsoft Copilot Dashboard method).</a:t>
            </a:r>
          </a:p>
          <a:p>
            <a:r>
              <a:rPr sz="1000">
                <a:solidFill>
                  <a:srgbClr val="2A78D6"/>
                </a:solidFill>
                <a:latin typeface="Calibri"/>
                <a:hlinkClick r:id="rId2"/>
              </a:rPr>
              <a:t>https://learn.microsoft.com/viva/insights/org-team-insights/copilot-dashboard#impact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942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2A52"/>
                </a:solidFill>
                <a:latin typeface="Calibri"/>
              </a:rPr>
              <a:t>Business case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0B0B0B"/>
                </a:solidFill>
                <a:latin typeface="Calibri"/>
              </a:rPr>
              <a:t>Assisted value = assisted hours x hourly rate. Costs = licences for all licensed users + one-off rollout costs. ROI = (value - cost) / cost. 46 working weeks a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2A52"/>
                </a:solidFill>
                <a:latin typeface="Calibri"/>
              </a:rPr>
              <a:t>Benchmark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0B0B0B"/>
                </a:solidFill>
                <a:latin typeface="Calibri"/>
              </a:rPr>
              <a:t>Forrester projected Total Economic Impact of Microsoft 365 Copilot for SMB (commissioned by Microsoft): 3-year ROI 132-353%.</a:t>
            </a:r>
          </a:p>
          <a:p>
            <a:r>
              <a:rPr sz="1000">
                <a:solidFill>
                  <a:srgbClr val="2A78D6"/>
                </a:solidFill>
                <a:latin typeface="Calibri"/>
                <a:hlinkClick r:id="rId3"/>
              </a:rPr>
              <a:t>https://www.microsoft.com/en-us/microsoft-365/blog/2024/10/17/microsoft-365-copilot-drove-up-to-353-roi-for-small-and-medium-businesses-new-study/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2A52"/>
                </a:solidFill>
                <a:latin typeface="Calibri"/>
              </a:rPr>
              <a:t>Usage data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0B0B0B"/>
                </a:solidFill>
                <a:latin typeface="Calibri"/>
              </a:rPr>
              <a:t>Copilot Dashboard (Viva Insights) data export, weekly, anonymised.</a:t>
            </a:r>
          </a:p>
          <a:p>
            <a:r>
              <a:rPr sz="1000">
                <a:solidFill>
                  <a:srgbClr val="2A78D6"/>
                </a:solidFill>
                <a:latin typeface="Calibri"/>
                <a:hlinkClick r:id="rId4"/>
              </a:rPr>
              <a:t>https://learn.microsoft.com/viva/insights/org-team-insights/export-copilot-metrics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2A52"/>
                </a:solidFill>
                <a:latin typeface="Calibri"/>
              </a:rPr>
              <a:t>Readiness score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0B0B0B"/>
                </a:solidFill>
                <a:latin typeface="Calibri"/>
              </a:rPr>
              <a:t>Licences 20, data governance 25, SharePoint permissions 25, executive sponsor 15, change plan 15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2A52"/>
                </a:solidFill>
                <a:latin typeface="Calibri"/>
              </a:rPr>
              <a:t>Currency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0B0B0B"/>
                </a:solidFill>
                <a:latin typeface="Calibri"/>
              </a:rPr>
              <a:t>Singapore dollars; 1 USD = 1.28 SGD.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